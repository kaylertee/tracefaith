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70" r:id="rId3"/>
    <p:sldId id="257" r:id="rId4"/>
    <p:sldId id="258" r:id="rId5"/>
    <p:sldId id="264" r:id="rId6"/>
    <p:sldId id="265" r:id="rId7"/>
    <p:sldId id="266" r:id="rId8"/>
    <p:sldId id="259" r:id="rId9"/>
    <p:sldId id="260" r:id="rId10"/>
    <p:sldId id="261" r:id="rId11"/>
    <p:sldId id="267" r:id="rId12"/>
    <p:sldId id="268" r:id="rId13"/>
    <p:sldId id="269" r:id="rId14"/>
    <p:sldId id="263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2" d="100"/>
          <a:sy n="152" d="100"/>
        </p:scale>
        <p:origin x="61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0893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81212-2E6C-4810-2B0D-7542C30AB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DF121A-6061-1827-81B5-5412AEAB95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625360-7BD0-CF71-B460-634000174A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444EC1-6D5D-1FA4-96F4-AE0C83F2C4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3099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AD03B-14A0-3407-273E-CEA0A8BF2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DC7395-7F43-0A49-1574-4C3B2C6424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BD15F6-B414-28DB-2F3D-1946809D18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7E3D9B-E1B3-649F-4B07-B3D9837ED2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6347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13067-A53E-1AA9-D7E1-646AB8234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10BBB8-28C8-8542-2626-17E2CEE682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DA16DD-C59A-D782-C359-31218BAA6F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0B4DC-1830-CBCC-5123-C5D93ABF82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9465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217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D77"/>
                </a:solidFill>
              </a:rPr>
              <a:t>Paper Sharing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" y="1115568"/>
            <a:ext cx="7040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900" b="1" dirty="0">
                <a:solidFill>
                  <a:srgbClr val="1B1B1F"/>
                </a:solidFill>
              </a:rPr>
              <a:t>Cross-Modal Reasoning for Trustworthy AI for Science</a:t>
            </a:r>
          </a:p>
        </p:txBody>
      </p:sp>
      <p:sp>
        <p:nvSpPr>
          <p:cNvPr id="4" name="Shape 2"/>
          <p:cNvSpPr/>
          <p:nvPr/>
        </p:nvSpPr>
        <p:spPr>
          <a:xfrm>
            <a:off x="749808" y="2834640"/>
            <a:ext cx="0" cy="731520"/>
          </a:xfrm>
          <a:prstGeom prst="line">
            <a:avLst/>
          </a:prstGeom>
          <a:noFill/>
          <a:ln w="38100">
            <a:solidFill>
              <a:srgbClr val="006D77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914400" y="2807208"/>
            <a:ext cx="6922008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LLM Causal Reasoning, Explanation Faithfulness, and Trustworthy Multimodal Scientific AI.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651596" y="45808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17B5A"/>
                </a:solidFill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067175" y="458997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1B1F"/>
                </a:solidFill>
              </a:rPr>
              <a:t>AI4S benchmark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078855" y="4727132"/>
            <a:ext cx="237744" cy="0"/>
          </a:xfrm>
          <a:prstGeom prst="line">
            <a:avLst/>
          </a:prstGeom>
          <a:noFill/>
          <a:ln w="15875">
            <a:solidFill>
              <a:srgbClr val="D8D1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SG" sz="2000">
              <a:highlight>
                <a:srgbClr val="FFFF00"/>
              </a:highlight>
            </a:endParaRPr>
          </a:p>
        </p:txBody>
      </p:sp>
      <p:sp>
        <p:nvSpPr>
          <p:cNvPr id="9" name="Text 7"/>
          <p:cNvSpPr/>
          <p:nvPr/>
        </p:nvSpPr>
        <p:spPr>
          <a:xfrm>
            <a:off x="4472047" y="45716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C3D3D"/>
                </a:solidFill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846950" y="4638214"/>
            <a:ext cx="21712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1B1B1F"/>
                </a:solidFill>
              </a:rPr>
              <a:t>CoT</a:t>
            </a:r>
            <a:r>
              <a:rPr lang="en-US" sz="2000" b="1" dirty="0">
                <a:solidFill>
                  <a:srgbClr val="1B1B1F"/>
                </a:solidFill>
              </a:rPr>
              <a:t> unfaithfulness 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356506" y="4732492"/>
            <a:ext cx="237744" cy="0"/>
          </a:xfrm>
          <a:prstGeom prst="line">
            <a:avLst/>
          </a:prstGeom>
          <a:noFill/>
          <a:ln w="15875">
            <a:solidFill>
              <a:srgbClr val="D8D1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SG" sz="2000">
              <a:highlight>
                <a:srgbClr val="FFFF00"/>
              </a:highlight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49698" y="45770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55070"/>
                </a:solidFill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238429" y="4643574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1B1F"/>
                </a:solidFill>
              </a:rPr>
              <a:t>Causal multimodal method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58368" y="6437376"/>
            <a:ext cx="10881360" cy="0"/>
          </a:xfrm>
          <a:prstGeom prst="line">
            <a:avLst/>
          </a:prstGeom>
          <a:noFill/>
          <a:ln w="9525">
            <a:solidFill>
              <a:srgbClr val="D8D1C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>
            <a:extLst>
              <a:ext uri="{FF2B5EF4-FFF2-40B4-BE49-F238E27FC236}">
                <a16:creationId xmlns:a16="http://schemas.microsoft.com/office/drawing/2014/main" id="{0130E107-14B9-6E57-A100-BD8E9C5084C9}"/>
              </a:ext>
            </a:extLst>
          </p:cNvPr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D8D1C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DAE7D75-ED69-212A-9696-0B3846DB7F0C}"/>
              </a:ext>
            </a:extLst>
          </p:cNvPr>
          <p:cNvSpPr/>
          <p:nvPr/>
        </p:nvSpPr>
        <p:spPr>
          <a:xfrm>
            <a:off x="4467554" y="614934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B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Idea: AI Faithfulness</a:t>
            </a:r>
            <a:endParaRPr lang="en-US" sz="2500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E5B43216-ADE0-95AE-EC34-D1EBCD3C8ED2}"/>
              </a:ext>
            </a:extLst>
          </p:cNvPr>
          <p:cNvSpPr/>
          <p:nvPr/>
        </p:nvSpPr>
        <p:spPr>
          <a:xfrm>
            <a:off x="1501210" y="2999232"/>
            <a:ext cx="8832474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/>
            <a:r>
              <a:rPr lang="en-SG" sz="200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you ask an LLM a question,</a:t>
            </a:r>
          </a:p>
          <a:p>
            <a:pPr algn="ctr"/>
            <a:r>
              <a:rPr lang="en-SG" sz="200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and ask it to explain how it came to its answer,</a:t>
            </a:r>
          </a:p>
          <a:p>
            <a:pPr algn="ctr"/>
            <a:r>
              <a:rPr lang="en-SG" sz="200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the given explanation </a:t>
            </a:r>
            <a:r>
              <a:rPr lang="en-SG" sz="2000" i="1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actually </a:t>
            </a:r>
            <a:r>
              <a:rPr lang="en-SG" sz="200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affect the answer it gave?</a:t>
            </a:r>
            <a:r>
              <a:rPr lang="en-SG" sz="2000" i="1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48733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SELECTION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6217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B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these 3 papers?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D8D1C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Text 4"/>
          <p:cNvSpPr/>
          <p:nvPr/>
        </p:nvSpPr>
        <p:spPr>
          <a:xfrm>
            <a:off x="822960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17B5A"/>
                </a:solidFill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508760" y="207568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B1B1F"/>
                </a:solidFill>
              </a:rPr>
              <a:t>ScienceQA: Learn to Explain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508760" y="2404872"/>
            <a:ext cx="6766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A5E68"/>
                </a:solidFill>
              </a:rPr>
              <a:t>NeurIPS 2022 - multimodal science QA with lectures and explanations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C3D3D"/>
                </a:solidFill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508760" y="296265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B1B1F"/>
                </a:solidFill>
              </a:rPr>
              <a:t>Language Models Don’t Always Say What They Think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508760" y="3291840"/>
            <a:ext cx="6766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A5E68"/>
                </a:solidFill>
              </a:rPr>
              <a:t>NeurIPS 2023 - CoT explanations can be systematically unfaithful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3858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55070"/>
                </a:solidFill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508760" y="384962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B1B1F"/>
                </a:solidFill>
              </a:rPr>
              <a:t>CAuSE: Decoding Multimodal Classifiers using Faithful NLE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508760" y="4178808"/>
            <a:ext cx="6766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50" dirty="0">
                <a:solidFill>
                  <a:srgbClr val="5A5E68"/>
                </a:solidFill>
              </a:rPr>
              <a:t>TACL 2025 - causal abstraction and intervention training for multimodal explanations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1248" y="5102352"/>
            <a:ext cx="0" cy="722376"/>
          </a:xfrm>
          <a:prstGeom prst="line">
            <a:avLst/>
          </a:prstGeom>
          <a:noFill/>
          <a:ln w="38100">
            <a:solidFill>
              <a:srgbClr val="006D77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" name="Text 14"/>
          <p:cNvSpPr/>
          <p:nvPr/>
        </p:nvSpPr>
        <p:spPr>
          <a:xfrm>
            <a:off x="1005840" y="5074920"/>
            <a:ext cx="975664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they connect: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500" b="1" dirty="0" err="1">
                <a:solidFill>
                  <a:schemeClr val="accent6">
                    <a:lumMod val="5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ScienceQA</a:t>
            </a:r>
            <a:r>
              <a:rPr lang="en-US" sz="1500" b="1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gives a scientific reasoning benchmark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500" b="1" dirty="0">
                <a:solidFill>
                  <a:srgbClr val="C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2 </a:t>
            </a:r>
            <a:r>
              <a:rPr lang="en-US" sz="1500" b="1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motivates why explanations cannot be trusted at face value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500" b="1" dirty="0" err="1">
                <a:solidFill>
                  <a:srgbClr val="0020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CAuSE</a:t>
            </a:r>
            <a:r>
              <a:rPr lang="en-US" sz="1500" b="1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gives a causal multimodal explanation method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8368" y="6437376"/>
            <a:ext cx="10881360" cy="0"/>
          </a:xfrm>
          <a:prstGeom prst="line">
            <a:avLst/>
          </a:prstGeom>
          <a:noFill/>
          <a:ln w="9525">
            <a:solidFill>
              <a:srgbClr val="D8D1C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8" name="Text 16"/>
          <p:cNvSpPr/>
          <p:nvPr/>
        </p:nvSpPr>
        <p:spPr>
          <a:xfrm>
            <a:off x="658368" y="6519672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5A5E68"/>
                </a:solidFill>
              </a:rPr>
              <a:t>Lu et al. 2022; Turpin et al. 2023; Bandyopadhyay et al. 2025</a:t>
            </a:r>
            <a:endParaRPr lang="en-US" sz="650" dirty="0"/>
          </a:p>
        </p:txBody>
      </p:sp>
      <p:sp>
        <p:nvSpPr>
          <p:cNvPr id="20" name="Text 14"/>
          <p:cNvSpPr/>
          <p:nvPr/>
        </p:nvSpPr>
        <p:spPr>
          <a:xfrm>
            <a:off x="6858000" y="184535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417B5A"/>
                </a:solidFill>
              </a:rPr>
              <a:t>1</a:t>
            </a:r>
            <a:endParaRPr lang="en-US" sz="2700" dirty="0"/>
          </a:p>
        </p:txBody>
      </p:sp>
      <p:sp>
        <p:nvSpPr>
          <p:cNvPr id="21" name="Text 15"/>
          <p:cNvSpPr/>
          <p:nvPr/>
        </p:nvSpPr>
        <p:spPr>
          <a:xfrm>
            <a:off x="7452360" y="19613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B1F"/>
                </a:solidFill>
              </a:rPr>
              <a:t>Scientific Reasoning Benchmark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858000" y="291520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9C3D3D"/>
                </a:solidFill>
              </a:rPr>
              <a:t>2</a:t>
            </a:r>
            <a:endParaRPr lang="en-US" sz="2700" dirty="0"/>
          </a:p>
        </p:txBody>
      </p:sp>
      <p:sp>
        <p:nvSpPr>
          <p:cNvPr id="24" name="Text 18"/>
          <p:cNvSpPr/>
          <p:nvPr/>
        </p:nvSpPr>
        <p:spPr>
          <a:xfrm>
            <a:off x="7452360" y="302493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B1F"/>
                </a:solidFill>
              </a:rPr>
              <a:t>Where </a:t>
            </a:r>
            <a:r>
              <a:rPr lang="en-US" sz="1400" b="1" dirty="0" err="1">
                <a:solidFill>
                  <a:srgbClr val="1B1B1F"/>
                </a:solidFill>
              </a:rPr>
              <a:t>CoT</a:t>
            </a:r>
            <a:r>
              <a:rPr lang="en-US" sz="1400" b="1" dirty="0">
                <a:solidFill>
                  <a:srgbClr val="1B1B1F"/>
                </a:solidFill>
              </a:rPr>
              <a:t> Fails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6858000" y="39850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355070"/>
                </a:solidFill>
              </a:rPr>
              <a:t>3</a:t>
            </a:r>
            <a:endParaRPr lang="en-US" sz="2700" dirty="0"/>
          </a:p>
        </p:txBody>
      </p:sp>
      <p:sp>
        <p:nvSpPr>
          <p:cNvPr id="27" name="Text 21"/>
          <p:cNvSpPr/>
          <p:nvPr/>
        </p:nvSpPr>
        <p:spPr>
          <a:xfrm>
            <a:off x="7452360" y="409477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B1F"/>
                </a:solidFill>
              </a:rPr>
              <a:t>Causal method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ANCHOR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6217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B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Paper 1 - ScienceQA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D8D1C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3886200" y="675079"/>
            <a:ext cx="80514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417B5A"/>
                </a:solidFill>
              </a:rPr>
              <a:t>Paper Title: 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417B5A"/>
                </a:solidFill>
              </a:rPr>
              <a:t>Learn to Explain: Multimodal Reasoning via Thought Chains for Science Question Answering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7" y="1417320"/>
            <a:ext cx="11228831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Introduces ScienceQA, a science QA benchmark of ~21K multimodal multiple-choice science questions: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SG" sz="1600" dirty="0"/>
              <a:t>Includes text, images, lectures, and explanations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Covers natural science, social science, and language science, with 26 topics, 127 categories, and 379 skills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dataset base for testing whether scientific reasoning traces are faithful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6204" y="3381704"/>
            <a:ext cx="0" cy="1562678"/>
          </a:xfrm>
          <a:prstGeom prst="line">
            <a:avLst/>
          </a:prstGeom>
          <a:noFill/>
          <a:ln w="38100">
            <a:solidFill>
              <a:srgbClr val="417B5A"/>
            </a:solidFill>
            <a:prstDash val="solid"/>
          </a:ln>
        </p:spPr>
        <p:txBody>
          <a:bodyPr/>
          <a:lstStyle/>
          <a:p>
            <a:endParaRPr lang="en-SG" dirty="0"/>
          </a:p>
        </p:txBody>
      </p:sp>
      <p:sp>
        <p:nvSpPr>
          <p:cNvPr id="9" name="Text 7"/>
          <p:cNvSpPr/>
          <p:nvPr/>
        </p:nvSpPr>
        <p:spPr>
          <a:xfrm>
            <a:off x="1246422" y="34053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1F"/>
                </a:solidFill>
              </a:rPr>
              <a:t>Project use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46199" y="3771900"/>
            <a:ext cx="7404117" cy="2148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ScienceQA samples</a:t>
            </a:r>
            <a:endParaRPr lang="en-US" sz="13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 lectures/explanations as candidate reasoning traces</a:t>
            </a:r>
            <a:endParaRPr lang="en-US" sz="13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Intervene on image, text, or explanation evidence</a:t>
            </a:r>
            <a:endParaRPr lang="en-US" sz="13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necessity, sufficiency, and counterfactual consistency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58368" y="6437376"/>
            <a:ext cx="10881360" cy="0"/>
          </a:xfrm>
          <a:prstGeom prst="line">
            <a:avLst/>
          </a:prstGeom>
          <a:noFill/>
          <a:ln w="9525">
            <a:solidFill>
              <a:srgbClr val="D8D1C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Text 10"/>
          <p:cNvSpPr/>
          <p:nvPr/>
        </p:nvSpPr>
        <p:spPr>
          <a:xfrm>
            <a:off x="658368" y="6519672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5A5E68"/>
                </a:solidFill>
              </a:rPr>
              <a:t>Source: https://arxiv.org/abs/2209.09513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04782E-7835-F883-FD51-ACF8CDE3E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D322CEF-34C9-5F4C-A567-C565C3B8AF3B}"/>
              </a:ext>
            </a:extLst>
          </p:cNvPr>
          <p:cNvSpPr/>
          <p:nvPr/>
        </p:nvSpPr>
        <p:spPr>
          <a:xfrm>
            <a:off x="658368" y="32004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ANCHOR</a:t>
            </a:r>
            <a:endParaRPr lang="en-US" sz="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BD96149-4F20-6F56-5EAA-61B1D6F09AE3}"/>
              </a:ext>
            </a:extLst>
          </p:cNvPr>
          <p:cNvSpPr/>
          <p:nvPr/>
        </p:nvSpPr>
        <p:spPr>
          <a:xfrm>
            <a:off x="658368" y="6217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B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Paper 1 - ScienceQA</a:t>
            </a:r>
            <a:endParaRPr lang="en-US" sz="25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FAD86DF-390B-81CD-C6A3-050054CE1DC9}"/>
              </a:ext>
            </a:extLst>
          </p:cNvPr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D8D1C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D002559-419B-E32E-747C-3000FAD95E3A}"/>
              </a:ext>
            </a:extLst>
          </p:cNvPr>
          <p:cNvSpPr/>
          <p:nvPr/>
        </p:nvSpPr>
        <p:spPr>
          <a:xfrm>
            <a:off x="3886200" y="675079"/>
            <a:ext cx="80514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417B5A"/>
                </a:solidFill>
              </a:rPr>
              <a:t>Paper Title: 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417B5A"/>
                </a:solidFill>
              </a:rPr>
              <a:t>Learn to Explain: Multimodal Reasoning via Thought Chains for Science Question Answering</a:t>
            </a:r>
            <a:endParaRPr lang="en-US" sz="1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9007F28-D5D4-5837-5CAD-A5DA9C64DEA8}"/>
              </a:ext>
            </a:extLst>
          </p:cNvPr>
          <p:cNvSpPr/>
          <p:nvPr/>
        </p:nvSpPr>
        <p:spPr>
          <a:xfrm>
            <a:off x="658368" y="6437376"/>
            <a:ext cx="10881360" cy="0"/>
          </a:xfrm>
          <a:prstGeom prst="line">
            <a:avLst/>
          </a:prstGeom>
          <a:noFill/>
          <a:ln w="9525">
            <a:solidFill>
              <a:srgbClr val="D8D1C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4F8EB2D-C3A5-7CBD-ED65-BF44E8DCB468}"/>
              </a:ext>
            </a:extLst>
          </p:cNvPr>
          <p:cNvSpPr/>
          <p:nvPr/>
        </p:nvSpPr>
        <p:spPr>
          <a:xfrm>
            <a:off x="658368" y="6519672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5A5E68"/>
                </a:solidFill>
              </a:rPr>
              <a:t>Source: https://arxiv.org/abs/2209.09513</a:t>
            </a:r>
            <a:endParaRPr lang="en-US" sz="6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4179926-A0EE-C361-E426-621FBB7BAA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586" y="1463756"/>
            <a:ext cx="10212225" cy="338184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65DE444-6A68-93FF-4C77-EB006256619D}"/>
              </a:ext>
            </a:extLst>
          </p:cNvPr>
          <p:cNvSpPr txBox="1"/>
          <p:nvPr/>
        </p:nvSpPr>
        <p:spPr>
          <a:xfrm>
            <a:off x="1492250" y="5025943"/>
            <a:ext cx="990306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authors test whether language models can answer science questions better by generating a chain of thought made of a </a:t>
            </a:r>
            <a:r>
              <a:rPr lang="en-US" sz="1600" b="1" dirty="0"/>
              <a:t>lecture</a:t>
            </a:r>
            <a:r>
              <a:rPr lang="en-US" sz="1600" dirty="0"/>
              <a:t> plus an </a:t>
            </a:r>
            <a:r>
              <a:rPr lang="en-US" sz="1600" b="1" dirty="0"/>
              <a:t>explanation</a:t>
            </a:r>
            <a:endParaRPr lang="en-US" sz="1600" dirty="0">
              <a:solidFill>
                <a:srgbClr val="1B1B1F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explanations as “thought chains” to improve scientific question answering.</a:t>
            </a:r>
            <a:endParaRPr lang="en-US" sz="1600" dirty="0"/>
          </a:p>
          <a:p>
            <a:endParaRPr lang="en-SG" sz="1600" dirty="0"/>
          </a:p>
        </p:txBody>
      </p:sp>
    </p:spTree>
    <p:extLst>
      <p:ext uri="{BB962C8B-B14F-4D97-AF65-F5344CB8AC3E}">
        <p14:creationId xmlns:p14="http://schemas.microsoft.com/office/powerpoint/2010/main" val="1875300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309399-8312-80BA-CE71-19F9756FD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CB22C9E-01E5-AFB8-4226-CD3BFD6BF083}"/>
              </a:ext>
            </a:extLst>
          </p:cNvPr>
          <p:cNvSpPr/>
          <p:nvPr/>
        </p:nvSpPr>
        <p:spPr>
          <a:xfrm>
            <a:off x="658368" y="32004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ANCHOR</a:t>
            </a:r>
            <a:endParaRPr lang="en-US" sz="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A9F15D7-809E-B234-6A54-7A4BBD63E7F5}"/>
              </a:ext>
            </a:extLst>
          </p:cNvPr>
          <p:cNvSpPr/>
          <p:nvPr/>
        </p:nvSpPr>
        <p:spPr>
          <a:xfrm>
            <a:off x="658368" y="6217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B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Paper 1 - ScienceQA</a:t>
            </a:r>
            <a:endParaRPr lang="en-US" sz="25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CBBBF79-2AC2-98F0-C51B-D099337E8F17}"/>
              </a:ext>
            </a:extLst>
          </p:cNvPr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D8D1C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1F7132B-F0F8-8C33-861D-1EEDC51D783F}"/>
              </a:ext>
            </a:extLst>
          </p:cNvPr>
          <p:cNvSpPr/>
          <p:nvPr/>
        </p:nvSpPr>
        <p:spPr>
          <a:xfrm>
            <a:off x="3886200" y="675079"/>
            <a:ext cx="80514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417B5A"/>
                </a:solidFill>
              </a:rPr>
              <a:t>Paper Title: 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417B5A"/>
                </a:solidFill>
              </a:rPr>
              <a:t>Learn to Explain: Multimodal Reasoning via Thought Chains for Science Question Answering</a:t>
            </a:r>
            <a:endParaRPr lang="en-US" sz="1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9E944C7-84C6-4EAD-3103-2CD2FFEEA630}"/>
              </a:ext>
            </a:extLst>
          </p:cNvPr>
          <p:cNvSpPr/>
          <p:nvPr/>
        </p:nvSpPr>
        <p:spPr>
          <a:xfrm>
            <a:off x="658368" y="6437376"/>
            <a:ext cx="10881360" cy="0"/>
          </a:xfrm>
          <a:prstGeom prst="line">
            <a:avLst/>
          </a:prstGeom>
          <a:noFill/>
          <a:ln w="9525">
            <a:solidFill>
              <a:srgbClr val="D8D1C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0EA7320-2554-44CE-EDA8-FCCB0221593E}"/>
              </a:ext>
            </a:extLst>
          </p:cNvPr>
          <p:cNvSpPr/>
          <p:nvPr/>
        </p:nvSpPr>
        <p:spPr>
          <a:xfrm>
            <a:off x="658368" y="6519672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5A5E68"/>
                </a:solidFill>
              </a:rPr>
              <a:t>Source: https://arxiv.org/abs/2209.09513</a:t>
            </a:r>
            <a:endParaRPr lang="en-US" sz="6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EC18DF-4EE1-70FE-10A8-5805609171B5}"/>
              </a:ext>
            </a:extLst>
          </p:cNvPr>
          <p:cNvSpPr txBox="1"/>
          <p:nvPr/>
        </p:nvSpPr>
        <p:spPr>
          <a:xfrm>
            <a:off x="577850" y="1456629"/>
            <a:ext cx="990306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Key Takeaways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Strong benchmark for cross-modal scientific reasoning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Chain-of-thought (</a:t>
            </a:r>
            <a:r>
              <a:rPr lang="en-US" sz="1600" dirty="0" err="1"/>
              <a:t>CoT</a:t>
            </a:r>
            <a:r>
              <a:rPr lang="en-US" sz="1600" dirty="0"/>
              <a:t>) prompting helps, but only modestly (+</a:t>
            </a:r>
            <a:r>
              <a:rPr lang="en-SG" sz="1600" dirty="0"/>
              <a:t>1.20% improvement)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600" dirty="0"/>
              <a:t>‘Gold’ explanations can help a lot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 A ‘gold’ explanation is one that is relevant, correct, and complete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Explanation quality is still not fully trustworthy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SG" sz="1600" dirty="0"/>
              <a:t>Human evaluators found that even when the model answers correctly, its explanation may not be ‘gold’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Multimodal grounding is a major weakness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The paper converts images into captions using a ViT-GPT2 captioning model, then feeds the caption as visual context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The authors note failures where captions lack fine-grained visual or diagram information, causing wrong or weak reasoning</a:t>
            </a:r>
            <a:endParaRPr lang="en-SG" sz="1600" dirty="0"/>
          </a:p>
        </p:txBody>
      </p:sp>
    </p:spTree>
    <p:extLst>
      <p:ext uri="{BB962C8B-B14F-4D97-AF65-F5344CB8AC3E}">
        <p14:creationId xmlns:p14="http://schemas.microsoft.com/office/powerpoint/2010/main" val="2458048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3E8F15-329F-6307-8ACB-2402307C9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83C45A6-F3B4-4E9A-C8C8-D9492149C4D3}"/>
              </a:ext>
            </a:extLst>
          </p:cNvPr>
          <p:cNvSpPr/>
          <p:nvPr/>
        </p:nvSpPr>
        <p:spPr>
          <a:xfrm>
            <a:off x="658368" y="32004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ANCHOR</a:t>
            </a:r>
            <a:endParaRPr lang="en-US" sz="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8F67091-F282-88F0-4864-B0F8CD8BDA66}"/>
              </a:ext>
            </a:extLst>
          </p:cNvPr>
          <p:cNvSpPr/>
          <p:nvPr/>
        </p:nvSpPr>
        <p:spPr>
          <a:xfrm>
            <a:off x="658368" y="6217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B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Paper 1 - ScienceQA</a:t>
            </a:r>
            <a:endParaRPr lang="en-US" sz="25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767F686-185A-20E9-F474-4BB79E209F37}"/>
              </a:ext>
            </a:extLst>
          </p:cNvPr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D8D1C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2598A6C-6DD8-B6F8-179E-E9688393FC8F}"/>
              </a:ext>
            </a:extLst>
          </p:cNvPr>
          <p:cNvSpPr/>
          <p:nvPr/>
        </p:nvSpPr>
        <p:spPr>
          <a:xfrm>
            <a:off x="3886200" y="675079"/>
            <a:ext cx="80514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417B5A"/>
                </a:solidFill>
              </a:rPr>
              <a:t>Paper Title: 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417B5A"/>
                </a:solidFill>
              </a:rPr>
              <a:t>Learn to Explain: Multimodal Reasoning via Thought Chains for Science Question Answering</a:t>
            </a:r>
            <a:endParaRPr lang="en-US" sz="1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A86BCC4-C19C-2243-0696-B1D172E9B5A5}"/>
              </a:ext>
            </a:extLst>
          </p:cNvPr>
          <p:cNvSpPr/>
          <p:nvPr/>
        </p:nvSpPr>
        <p:spPr>
          <a:xfrm>
            <a:off x="658368" y="6437376"/>
            <a:ext cx="10881360" cy="0"/>
          </a:xfrm>
          <a:prstGeom prst="line">
            <a:avLst/>
          </a:prstGeom>
          <a:noFill/>
          <a:ln w="9525">
            <a:solidFill>
              <a:srgbClr val="D8D1C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EF5DA9E-CEE6-308E-94E3-B44287E1BF7E}"/>
              </a:ext>
            </a:extLst>
          </p:cNvPr>
          <p:cNvSpPr/>
          <p:nvPr/>
        </p:nvSpPr>
        <p:spPr>
          <a:xfrm>
            <a:off x="658368" y="6519672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5A5E68"/>
                </a:solidFill>
              </a:rPr>
              <a:t>Source: https://arxiv.org/abs/2209.09513</a:t>
            </a:r>
            <a:endParaRPr lang="en-US" sz="6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DDDDC9-7ECA-6AAC-EE52-C2BAD13AF02A}"/>
              </a:ext>
            </a:extLst>
          </p:cNvPr>
          <p:cNvSpPr txBox="1"/>
          <p:nvPr/>
        </p:nvSpPr>
        <p:spPr>
          <a:xfrm>
            <a:off x="577850" y="1456629"/>
            <a:ext cx="990306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Research Gaps that can be addressed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paper is about reasoning explanations, not true causal reasoning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Although the paper uses “chain-of-thought” as a reasoning trace, it doesn’t model causality using methods like causal graphs, interventions, counterfactuals, or mechanistic cause-effect 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Faithful causal grounding for multimodal explanations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This paper shows that explanations improve science QA, but it doesn’t prove that the generated explanation is the real reason the model chose its answer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It also doesn’t test whether explanations stay valid under counterfactual changes to the image, question, or scientific facts</a:t>
            </a:r>
          </a:p>
          <a:p>
            <a:br>
              <a:rPr lang="en-US" sz="1600" dirty="0"/>
            </a:b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SG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3192D6-8248-5108-A8F8-158DEA246652}"/>
              </a:ext>
            </a:extLst>
          </p:cNvPr>
          <p:cNvSpPr txBox="1"/>
          <p:nvPr/>
        </p:nvSpPr>
        <p:spPr>
          <a:xfrm>
            <a:off x="440164" y="3824571"/>
            <a:ext cx="990306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Suggestion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Develop a framework that checks whether a model’s explanation is both </a:t>
            </a:r>
            <a:r>
              <a:rPr lang="en-US" sz="1600" b="1" dirty="0"/>
              <a:t>causally faithful</a:t>
            </a:r>
            <a:r>
              <a:rPr lang="en-US" sz="1600" dirty="0"/>
              <a:t> and </a:t>
            </a:r>
            <a:r>
              <a:rPr lang="en-US" sz="1600" b="1" dirty="0"/>
              <a:t>cross-modally grounded </a:t>
            </a:r>
            <a:r>
              <a:rPr lang="en-US" sz="1600" dirty="0"/>
              <a:t>(explanation is properly based on evidence from more than one type of input)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Explanations are tested using counterfactual interventions, such as changing a diagram feature, removing a visual cue, or swapping a causal variable, then measuring whether the answer and explanation change consistently</a:t>
            </a:r>
            <a:endParaRPr lang="en-SG" sz="1600" dirty="0"/>
          </a:p>
        </p:txBody>
      </p:sp>
    </p:spTree>
    <p:extLst>
      <p:ext uri="{BB962C8B-B14F-4D97-AF65-F5344CB8AC3E}">
        <p14:creationId xmlns:p14="http://schemas.microsoft.com/office/powerpoint/2010/main" val="2891513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MOTIVATION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6217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 dirty="0">
                <a:solidFill>
                  <a:srgbClr val="1B1B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Paper 2 - </a:t>
            </a:r>
            <a:r>
              <a:rPr lang="en-US" sz="2500" b="1" dirty="0" err="1">
                <a:solidFill>
                  <a:srgbClr val="1B1B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CoT</a:t>
            </a:r>
            <a:r>
              <a:rPr lang="en-US" sz="2500" b="1" dirty="0">
                <a:solidFill>
                  <a:srgbClr val="1B1B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can be Unfaithful 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D8D1C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5145865" y="644651"/>
            <a:ext cx="4592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530" b="1" dirty="0">
                <a:solidFill>
                  <a:srgbClr val="9C3D3D"/>
                </a:solidFill>
              </a:rPr>
              <a:t>Language Models Don’t Always Say What They Think: Unfaithful Explanations in Chain-of-Thought Prompting</a:t>
            </a:r>
            <a:endParaRPr lang="en-US" sz="1530" dirty="0"/>
          </a:p>
        </p:txBody>
      </p:sp>
      <p:sp>
        <p:nvSpPr>
          <p:cNvPr id="6" name="Text 4"/>
          <p:cNvSpPr/>
          <p:nvPr/>
        </p:nvSpPr>
        <p:spPr>
          <a:xfrm>
            <a:off x="658368" y="1549907"/>
            <a:ext cx="6995160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Shows that </a:t>
            </a:r>
            <a:r>
              <a:rPr lang="en-US" sz="1600" dirty="0" err="1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CoT</a:t>
            </a:r>
            <a:r>
              <a:rPr lang="en-US" sz="160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explanations can systematically misrepresent the true reason for a model’s prediction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Biasing features in the input can affect answers, while the generated explanations fail to mention those biases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SG" sz="1600" dirty="0"/>
              <a:t>e.g. Reordering the multiple-choice options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can </a:t>
            </a:r>
            <a:r>
              <a:rPr lang="en-US" sz="1600" dirty="0" err="1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rationalise</a:t>
            </a:r>
            <a:r>
              <a:rPr lang="en-US" sz="160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an answer after being pushed toward it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plausible explanation is not enough for trustworthiness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Intervention-based evaluation of scientific reasoning traces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4919472"/>
            <a:ext cx="0" cy="722376"/>
          </a:xfrm>
          <a:prstGeom prst="line">
            <a:avLst/>
          </a:prstGeom>
          <a:noFill/>
          <a:ln w="38100">
            <a:solidFill>
              <a:srgbClr val="9C3D3D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Text 6"/>
          <p:cNvSpPr/>
          <p:nvPr/>
        </p:nvSpPr>
        <p:spPr>
          <a:xfrm>
            <a:off x="1033272" y="4892040"/>
            <a:ext cx="705916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r>
              <a:rPr lang="en-US" sz="1500" b="1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AI4S explanations can </a:t>
            </a:r>
            <a:r>
              <a:rPr lang="en-US" sz="1500" b="1" i="1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</a:t>
            </a:r>
            <a:r>
              <a:rPr lang="en-US" sz="1500" b="1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scientific while still being post-hoc </a:t>
            </a:r>
          </a:p>
          <a:p>
            <a:r>
              <a:rPr lang="en-US" sz="150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</a:t>
            </a:r>
            <a:r>
              <a:rPr lang="en-US" sz="1600" dirty="0"/>
              <a:t>an explanation generated </a:t>
            </a:r>
            <a:r>
              <a:rPr lang="en-US" sz="1600" i="1" dirty="0"/>
              <a:t>after</a:t>
            </a:r>
            <a:r>
              <a:rPr lang="en-US" sz="1600" dirty="0"/>
              <a:t> the model has already made its answer, rather than being the actual reasoning process that produced the answer)</a:t>
            </a:r>
            <a:r>
              <a:rPr lang="en-US" sz="1500" b="1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whether the cited evidence </a:t>
            </a:r>
            <a:r>
              <a:rPr lang="en-US" sz="1500" b="1" i="1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actually causes </a:t>
            </a:r>
            <a:r>
              <a:rPr lang="en-US" sz="1500" b="1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answer.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79408" y="1746505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1F"/>
                </a:solidFill>
              </a:rPr>
              <a:t>Gaps that can be addressed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880716" y="2162557"/>
            <a:ext cx="2926080" cy="22128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400" dirty="0"/>
              <a:t>This paper shows that </a:t>
            </a:r>
            <a:r>
              <a:rPr lang="en-US" sz="1400" dirty="0" err="1"/>
              <a:t>CoT</a:t>
            </a:r>
            <a:r>
              <a:rPr lang="en-US" sz="1400" dirty="0"/>
              <a:t> explanations can be unfaithful in text-only reasoning, but it does not test whether multimodal scientific explanations are faithful across text, images, diagrams, or graphs.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58368" y="6437376"/>
            <a:ext cx="10881360" cy="0"/>
          </a:xfrm>
          <a:prstGeom prst="line">
            <a:avLst/>
          </a:prstGeom>
          <a:noFill/>
          <a:ln w="9525">
            <a:solidFill>
              <a:srgbClr val="D8D1C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Text 10"/>
          <p:cNvSpPr/>
          <p:nvPr/>
        </p:nvSpPr>
        <p:spPr>
          <a:xfrm>
            <a:off x="658368" y="6519672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5A5E68"/>
                </a:solidFill>
              </a:rPr>
              <a:t>Source: https://arxiv.org/abs/2305.04388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58368" y="6217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B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Paper 3 - CAuSE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D8D1C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30" b="1" dirty="0">
                <a:solidFill>
                  <a:srgbClr val="355070"/>
                </a:solidFill>
              </a:rPr>
              <a:t>CAuSE: Decoding Multimodal Classifiers using Faithful Natural Language Explanation</a:t>
            </a:r>
            <a:endParaRPr lang="en-US" sz="153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6995160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Proposes a framework (</a:t>
            </a:r>
            <a:r>
              <a:rPr lang="en-US" sz="1500" dirty="0" err="1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CAuSE</a:t>
            </a:r>
            <a:r>
              <a:rPr lang="en-US" sz="150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 to generate faithful Natural Language Explanations (NLE)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Targets pretrained multimodal classifiers</a:t>
            </a:r>
            <a:endParaRPr lang="en-US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causal abstraction under simulated explanations</a:t>
            </a:r>
            <a:endParaRPr lang="en-US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Trains explanations with interchange intervention-style objectives</a:t>
            </a:r>
            <a:endParaRPr lang="en-US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Provides a relevant causal faithfulness metric in a multimodal setting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4919472"/>
            <a:ext cx="0" cy="722376"/>
          </a:xfrm>
          <a:prstGeom prst="line">
            <a:avLst/>
          </a:prstGeom>
          <a:noFill/>
          <a:ln w="38100">
            <a:solidFill>
              <a:srgbClr val="35507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Text 6"/>
          <p:cNvSpPr/>
          <p:nvPr/>
        </p:nvSpPr>
        <p:spPr>
          <a:xfrm>
            <a:off x="1033272" y="4892040"/>
            <a:ext cx="7059168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Faithful multimodal explanation can be treated as a causal problem, not only a natural-language generation problem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62288" y="165963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B1B1F"/>
                </a:solidFill>
              </a:rPr>
              <a:t>Gaps that can be addressed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887968" y="2089877"/>
            <a:ext cx="2926080" cy="2487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more on scientific reasoning traces</a:t>
            </a:r>
            <a:endParaRPr lang="en-US" sz="13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generated explanations rather than mainly generating them</a:t>
            </a:r>
            <a:endParaRPr lang="en-US" sz="13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necessity, sufficiency, and counterfactual consistency</a:t>
            </a:r>
            <a:endParaRPr lang="en-US" sz="13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Emphasize AI4S evidence units: diagrams, text, conditions, variables, or retrieved facts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58368" y="6437376"/>
            <a:ext cx="10881360" cy="0"/>
          </a:xfrm>
          <a:prstGeom prst="line">
            <a:avLst/>
          </a:prstGeom>
          <a:noFill/>
          <a:ln w="9525">
            <a:solidFill>
              <a:srgbClr val="D8D1C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Text 10"/>
          <p:cNvSpPr/>
          <p:nvPr/>
        </p:nvSpPr>
        <p:spPr>
          <a:xfrm>
            <a:off x="658368" y="6519672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5A5E68"/>
                </a:solidFill>
              </a:rPr>
              <a:t>Source: https://arxiv.org/abs/2512.06814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SYNTHESIS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6217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B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Combined research gap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D8D1C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B1F"/>
                </a:solidFill>
              </a:rPr>
              <a:t>What the three papers motivate: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1993392"/>
            <a:ext cx="6949440" cy="2148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55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ScienceQA provides a scientific multimodal reasoning setting with explanations</a:t>
            </a:r>
            <a:endParaRPr lang="en-US" sz="1550" dirty="0"/>
          </a:p>
          <a:p>
            <a:pPr marL="342900" indent="-342900">
              <a:buFont typeface="+mj-lt"/>
              <a:buAutoNum type="arabicPeriod"/>
            </a:pPr>
            <a:r>
              <a:rPr lang="en-US" sz="155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Unfaithful CoT shows explanations may be plausible but not causally faithful</a:t>
            </a:r>
            <a:endParaRPr lang="en-US" sz="1550" dirty="0"/>
          </a:p>
          <a:p>
            <a:pPr marL="342900" indent="-342900">
              <a:buFont typeface="+mj-lt"/>
              <a:buAutoNum type="arabicPeriod"/>
            </a:pPr>
            <a:r>
              <a:rPr lang="en-US" sz="155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CAuSE shows multimodal explanation can be </a:t>
            </a:r>
            <a:r>
              <a:rPr lang="en-US" sz="1550" dirty="0" err="1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formalised</a:t>
            </a:r>
            <a:r>
              <a:rPr lang="en-US" sz="155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through causal intervention ideas</a:t>
            </a:r>
            <a:endParaRPr lang="en-US" sz="15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5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gap: we still need a lightweight AI4S framework to evaluate whether scientific reasoning traces are necessary, sufficient, and counterfactually consistent.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85800" y="42492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1F"/>
                </a:solidFill>
              </a:rPr>
              <a:t>Suggestions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2272" y="4584928"/>
            <a:ext cx="2971800" cy="2606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evidence units in a reasoning trace</a:t>
            </a:r>
            <a:endParaRPr lang="en-US" sz="13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controlled interventions</a:t>
            </a:r>
            <a:endParaRPr lang="en-US" sz="13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causal faithfulness</a:t>
            </a:r>
            <a:endParaRPr lang="en-US" sz="135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failure modes and shortcut reliance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58368" y="6437376"/>
            <a:ext cx="10881360" cy="0"/>
          </a:xfrm>
          <a:prstGeom prst="line">
            <a:avLst/>
          </a:prstGeom>
          <a:noFill/>
          <a:ln w="9525">
            <a:solidFill>
              <a:srgbClr val="D8D1C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3EB28A9E-9E0A-26FB-6C93-C288158D7AF6}"/>
              </a:ext>
            </a:extLst>
          </p:cNvPr>
          <p:cNvSpPr/>
          <p:nvPr/>
        </p:nvSpPr>
        <p:spPr>
          <a:xfrm>
            <a:off x="658368" y="6217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B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Causal Reasoning Methods</a:t>
            </a:r>
            <a:endParaRPr lang="en-US" sz="25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2C6C37-1C6D-7D95-182C-E83B7A0CF05F}"/>
              </a:ext>
            </a:extLst>
          </p:cNvPr>
          <p:cNvSpPr txBox="1"/>
          <p:nvPr/>
        </p:nvSpPr>
        <p:spPr>
          <a:xfrm>
            <a:off x="577850" y="1128706"/>
            <a:ext cx="9903065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dirty="0"/>
              <a:t>Intervention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Actively change something and observe what happens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Tests whether the model actually understands the cause, rather than just the surface pattern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e.g. Image shows a plant growing toward sunlight.</a:t>
            </a:r>
          </a:p>
          <a:p>
            <a:r>
              <a:rPr lang="en-US" sz="1600" dirty="0"/>
              <a:t>Question: Why is the plant bending?</a:t>
            </a:r>
          </a:p>
          <a:p>
            <a:r>
              <a:rPr lang="en-US" sz="1600" dirty="0"/>
              <a:t>A normal model might say:</a:t>
            </a:r>
          </a:p>
          <a:p>
            <a:r>
              <a:rPr lang="en-US" sz="1600" i="1" dirty="0"/>
              <a:t>“Because the plant is near a window”</a:t>
            </a:r>
          </a:p>
          <a:p>
            <a:r>
              <a:rPr lang="en-US" sz="1600" dirty="0"/>
              <a:t>An intervention would ask:</a:t>
            </a:r>
          </a:p>
          <a:p>
            <a:r>
              <a:rPr lang="en-US" sz="1600" i="1" dirty="0"/>
              <a:t>What if we change the image so the light source is on the other side?</a:t>
            </a:r>
          </a:p>
          <a:p>
            <a:r>
              <a:rPr lang="en-US" sz="1600" dirty="0"/>
              <a:t>A trustworthy model should now change its explanation:</a:t>
            </a:r>
          </a:p>
          <a:p>
            <a:r>
              <a:rPr lang="en-US" sz="1600" i="1" dirty="0"/>
              <a:t>“The plant bends toward the new light source”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SG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806572-2BBE-AEF0-7F7B-AE2DEEA370D9}"/>
              </a:ext>
            </a:extLst>
          </p:cNvPr>
          <p:cNvSpPr txBox="1"/>
          <p:nvPr/>
        </p:nvSpPr>
        <p:spPr>
          <a:xfrm>
            <a:off x="577850" y="4235463"/>
            <a:ext cx="6046271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600" b="1" dirty="0"/>
              <a:t>Counterfactual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Ask what would have happened if something had been different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Tests whether the explanation is meaningful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e.g. Ice melts because the temperature is above 0°C.</a:t>
            </a:r>
          </a:p>
          <a:p>
            <a:r>
              <a:rPr lang="en-US" sz="1600" dirty="0"/>
              <a:t>Counterfactual question: </a:t>
            </a:r>
          </a:p>
          <a:p>
            <a:r>
              <a:rPr lang="en-US" sz="1600" i="1" dirty="0"/>
              <a:t>What would happen if the temperature were below 0°C?</a:t>
            </a:r>
          </a:p>
          <a:p>
            <a:r>
              <a:rPr lang="en-US" sz="1600" dirty="0"/>
              <a:t>Expected answer:</a:t>
            </a:r>
          </a:p>
          <a:p>
            <a:r>
              <a:rPr lang="en-US" sz="1600" i="1" dirty="0"/>
              <a:t>“The ice would not melt, or it would melt more slowly.”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D7503B31-FBC8-BAA6-5801-76FF6849E4B4}"/>
              </a:ext>
            </a:extLst>
          </p:cNvPr>
          <p:cNvSpPr/>
          <p:nvPr/>
        </p:nvSpPr>
        <p:spPr>
          <a:xfrm>
            <a:off x="655320" y="1033272"/>
            <a:ext cx="10881360" cy="0"/>
          </a:xfrm>
          <a:prstGeom prst="line">
            <a:avLst/>
          </a:prstGeom>
          <a:noFill/>
          <a:ln w="12700">
            <a:solidFill>
              <a:srgbClr val="D8D1C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B4E507D1-01C6-17F3-D056-209241B6CA26}"/>
              </a:ext>
            </a:extLst>
          </p:cNvPr>
          <p:cNvSpPr/>
          <p:nvPr/>
        </p:nvSpPr>
        <p:spPr>
          <a:xfrm>
            <a:off x="658368" y="32004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ADDENDUM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979757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C2183-314C-C8B5-E3B3-05768AC53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8DB85D95-E47A-A57B-9B0D-E381A34E9263}"/>
              </a:ext>
            </a:extLst>
          </p:cNvPr>
          <p:cNvSpPr/>
          <p:nvPr/>
        </p:nvSpPr>
        <p:spPr>
          <a:xfrm>
            <a:off x="658368" y="6217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B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Causal Reasoning Methods</a:t>
            </a:r>
            <a:endParaRPr lang="en-US" sz="25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687511-4BB9-5DB9-EC84-1B34FB38D045}"/>
              </a:ext>
            </a:extLst>
          </p:cNvPr>
          <p:cNvSpPr txBox="1"/>
          <p:nvPr/>
        </p:nvSpPr>
        <p:spPr>
          <a:xfrm>
            <a:off x="577850" y="1128706"/>
            <a:ext cx="990306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dirty="0"/>
              <a:t>Mechanistic cause-effect 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Explains </a:t>
            </a:r>
            <a:r>
              <a:rPr lang="en-US" sz="1600" i="1" dirty="0"/>
              <a:t>how</a:t>
            </a:r>
            <a:r>
              <a:rPr lang="en-US" sz="1600" dirty="0"/>
              <a:t> one thing causes another, step by step.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e.g. Sunlight causes a plant to grow.</a:t>
            </a:r>
          </a:p>
          <a:p>
            <a:r>
              <a:rPr lang="en-US" sz="1600" dirty="0"/>
              <a:t>Mechanistic explanation:</a:t>
            </a:r>
          </a:p>
          <a:p>
            <a:r>
              <a:rPr lang="en-US" sz="1600" i="1" dirty="0"/>
              <a:t>Sunlight provides energy for photosynthesis. Photosynthesis allows the plant to produce glucose. Glucose supports growth. Therefore, more suitable light can increase plant growth.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SG" sz="16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AE8D9E20-F667-BC94-9174-03885220E6C2}"/>
              </a:ext>
            </a:extLst>
          </p:cNvPr>
          <p:cNvSpPr/>
          <p:nvPr/>
        </p:nvSpPr>
        <p:spPr>
          <a:xfrm>
            <a:off x="655320" y="1033272"/>
            <a:ext cx="10881360" cy="0"/>
          </a:xfrm>
          <a:prstGeom prst="line">
            <a:avLst/>
          </a:prstGeom>
          <a:noFill/>
          <a:ln w="12700">
            <a:solidFill>
              <a:srgbClr val="D8D1C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02D891-5758-78A8-F277-89D49C86171B}"/>
              </a:ext>
            </a:extLst>
          </p:cNvPr>
          <p:cNvSpPr txBox="1"/>
          <p:nvPr/>
        </p:nvSpPr>
        <p:spPr>
          <a:xfrm>
            <a:off x="577849" y="3005472"/>
            <a:ext cx="990306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dirty="0"/>
              <a:t>Faithfulness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model’s explanation matches the real reason it produced its answer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It accurately reflects the evidence and reasoning the model actually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e.g. Why did the model say the animal is a bird?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i="1" dirty="0"/>
              <a:t>Because it has wings and a beak.”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explanation is faithful only if the model </a:t>
            </a:r>
            <a:r>
              <a:rPr lang="en-US" sz="1600" b="1" dirty="0"/>
              <a:t>actually relied </a:t>
            </a:r>
            <a:r>
              <a:rPr lang="en-US" sz="1600" dirty="0"/>
              <a:t>on the wings and beak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It is not faithful if the model really guessed “bird” because the image background had a tree, or because most training examples with that question had bird as the answer</a:t>
            </a:r>
            <a:endParaRPr lang="en-SG" sz="1600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AB62773A-B193-62BF-26AB-9DF5828AF5AB}"/>
              </a:ext>
            </a:extLst>
          </p:cNvPr>
          <p:cNvSpPr/>
          <p:nvPr/>
        </p:nvSpPr>
        <p:spPr>
          <a:xfrm>
            <a:off x="652272" y="354619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ADDENDUM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1459334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F52CD-F966-3D02-DB09-691695FC8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9EF3483E-F91A-45F4-7824-05604C682C09}"/>
              </a:ext>
            </a:extLst>
          </p:cNvPr>
          <p:cNvSpPr/>
          <p:nvPr/>
        </p:nvSpPr>
        <p:spPr>
          <a:xfrm>
            <a:off x="658368" y="6217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B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Causal Reasoning Methods</a:t>
            </a:r>
            <a:endParaRPr lang="en-US" sz="25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6B7A4D-022F-619A-850E-8B3195DD4E3E}"/>
              </a:ext>
            </a:extLst>
          </p:cNvPr>
          <p:cNvSpPr txBox="1"/>
          <p:nvPr/>
        </p:nvSpPr>
        <p:spPr>
          <a:xfrm>
            <a:off x="577850" y="1128706"/>
            <a:ext cx="990306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Necessity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 factor is necessary if the answer depends on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 simple terms: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If you remove this factor, the answer should change or become much less confident.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E.g. Why does the plant bend left?</a:t>
            </a:r>
            <a:br>
              <a:rPr lang="en-US" sz="1600" dirty="0"/>
            </a:br>
            <a:r>
              <a:rPr lang="en-US" sz="1600" dirty="0"/>
              <a:t>Image evidence: Light is coming from the left.</a:t>
            </a:r>
            <a:br>
              <a:rPr lang="en-US" sz="1600" dirty="0"/>
            </a:br>
            <a:r>
              <a:rPr lang="en-US" sz="1600" dirty="0"/>
              <a:t>Model answer: The plant bends left because it grows toward light.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light direction is necessary if: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When you remove or change the light direction, the model can no longer justify “bends left.”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For AI faithfulness: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A feature is necessary if the model needs it to make that answer.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7B7D6D2E-52E9-F4BD-A709-6F299384FAFF}"/>
              </a:ext>
            </a:extLst>
          </p:cNvPr>
          <p:cNvSpPr/>
          <p:nvPr/>
        </p:nvSpPr>
        <p:spPr>
          <a:xfrm>
            <a:off x="655320" y="1033272"/>
            <a:ext cx="10881360" cy="0"/>
          </a:xfrm>
          <a:prstGeom prst="line">
            <a:avLst/>
          </a:prstGeom>
          <a:noFill/>
          <a:ln w="12700">
            <a:solidFill>
              <a:srgbClr val="D8D1C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CB295C-CBDF-20CB-3765-0303FDDE1757}"/>
              </a:ext>
            </a:extLst>
          </p:cNvPr>
          <p:cNvSpPr txBox="1"/>
          <p:nvPr/>
        </p:nvSpPr>
        <p:spPr>
          <a:xfrm>
            <a:off x="577850" y="4102406"/>
            <a:ext cx="990306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Sufficiency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 factor is </a:t>
            </a:r>
            <a:r>
              <a:rPr lang="en-US" sz="1600" b="1" dirty="0"/>
              <a:t>sufficient</a:t>
            </a:r>
            <a:r>
              <a:rPr lang="en-US" sz="1600" dirty="0"/>
              <a:t> if it alone is enough to support the answer.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If you keep only this factor, the model should still reach the same answer.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E.g. Why does ice melt?</a:t>
            </a:r>
            <a:br>
              <a:rPr lang="en-US" sz="1600" dirty="0"/>
            </a:br>
            <a:r>
              <a:rPr lang="en-US" sz="1600" dirty="0"/>
              <a:t>Explanation: </a:t>
            </a:r>
            <a:r>
              <a:rPr lang="en-US" sz="1600" i="1" dirty="0"/>
              <a:t>The temperature is above 0°C.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Temperature above 0°C may be </a:t>
            </a:r>
            <a:r>
              <a:rPr lang="en-US" sz="1600" b="1" dirty="0"/>
              <a:t>sufficient</a:t>
            </a:r>
            <a:r>
              <a:rPr lang="en-US" sz="1600" dirty="0"/>
              <a:t> because that information alone is enough to explain melting, assuming normal pressure.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For AI faithfulness: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A feature is sufficient if it contains enough information for the model to make the answer.</a:t>
            </a: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F5184DC1-FE30-9ECE-25E2-404522A048E6}"/>
              </a:ext>
            </a:extLst>
          </p:cNvPr>
          <p:cNvSpPr/>
          <p:nvPr/>
        </p:nvSpPr>
        <p:spPr>
          <a:xfrm>
            <a:off x="658368" y="368124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ADDENDUM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8394764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6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6217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B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207008"/>
            <a:ext cx="10881360" cy="0"/>
          </a:xfrm>
          <a:prstGeom prst="line">
            <a:avLst/>
          </a:prstGeom>
          <a:noFill/>
          <a:ln w="12700">
            <a:solidFill>
              <a:srgbClr val="D8D1C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1051560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32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 et al. 2022. Learn to Explain: Multimodal Reasoning via Thought Chains for Science Question Answering. NeurIPS 2022. https://arxiv.org/abs/2209.09513</a:t>
            </a:r>
            <a:endParaRPr lang="en-US" sz="1320" dirty="0"/>
          </a:p>
          <a:p>
            <a:r>
              <a:rPr lang="en-US" sz="132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Turpin et al. 2023. Language Models Don’t Always Say What They Think: Unfaithful Explanations in Chain-of-Thought Prompting. NeurIPS 2023. https://arxiv.org/abs/2305.04388</a:t>
            </a:r>
            <a:endParaRPr lang="en-US" sz="1320" dirty="0"/>
          </a:p>
          <a:p>
            <a:r>
              <a:rPr lang="en-US" sz="132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Bandyopadhyay et al. 2025. CAuSE: Decoding Multimodal Classifiers using Faithful Natural Language Explanation. https://arxiv.org/abs/2512.06814</a:t>
            </a:r>
            <a:endParaRPr lang="en-US" sz="1320" dirty="0"/>
          </a:p>
          <a:p>
            <a:r>
              <a:rPr lang="en-US" sz="132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Related optional paper: Yu et al. 2025. Causal Sufficiency and Necessity Improves Chain-of-Thought Reasoning. https://arxiv.org/abs/2506.09853</a:t>
            </a:r>
            <a:endParaRPr lang="en-US" sz="1320" dirty="0"/>
          </a:p>
          <a:p>
            <a:r>
              <a:rPr lang="en-US" sz="1320" dirty="0">
                <a:solidFill>
                  <a:srgbClr val="1B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Related optional paper: Lanham et al. 2023. Measuring Faithfulness in Chain-of-Thought Reasoning. https://arxiv.org/abs/2307.13702</a:t>
            </a:r>
            <a:endParaRPr lang="en-US" sz="1320" dirty="0"/>
          </a:p>
        </p:txBody>
      </p:sp>
      <p:sp>
        <p:nvSpPr>
          <p:cNvPr id="6" name="Shape 4"/>
          <p:cNvSpPr/>
          <p:nvPr/>
        </p:nvSpPr>
        <p:spPr>
          <a:xfrm>
            <a:off x="658368" y="6437376"/>
            <a:ext cx="10881360" cy="0"/>
          </a:xfrm>
          <a:prstGeom prst="line">
            <a:avLst/>
          </a:prstGeom>
          <a:noFill/>
          <a:ln w="9525">
            <a:solidFill>
              <a:srgbClr val="D8D1C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1809</Words>
  <Application>Microsoft Office PowerPoint</Application>
  <PresentationFormat>Widescreen</PresentationFormat>
  <Paragraphs>199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Kayler Tee</cp:lastModifiedBy>
  <cp:revision>2</cp:revision>
  <dcterms:created xsi:type="dcterms:W3CDTF">2026-05-06T10:41:25Z</dcterms:created>
  <dcterms:modified xsi:type="dcterms:W3CDTF">2026-05-06T10:41:37Z</dcterms:modified>
</cp:coreProperties>
</file>